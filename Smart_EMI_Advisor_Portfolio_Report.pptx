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6400800"/>
          </a:xfrm>
          <a:prstGeom prst="rect">
            <a:avLst/>
          </a:prstGeom>
          <a:solidFill>
            <a:srgbClr val="0EA5E9">
              <a:alpha val="5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4572000"/>
          </a:xfrm>
          <a:prstGeom prst="rect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274320"/>
            <a:ext cx="2011680" cy="201168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1280160" cy="201168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11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EA5E9"/>
                </a:solidFill>
              </a:rPr>
              <a:t>PORTFOLIO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EMI &amp;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Loan Comparison Advisor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fintech analytics · Banking-standard formulas · Glassmorphism 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41148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24912"/>
            <a:ext cx="1325880" cy="27432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24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0" y="2724912"/>
            <a:ext cx="1325880" cy="274320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724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2724912"/>
            <a:ext cx="1325880" cy="27432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724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2724912"/>
            <a:ext cx="1325880" cy="27432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724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005840"/>
            <a:ext cx="246888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005840"/>
            <a:ext cx="24688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1155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Highlights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146304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10+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69480" y="149961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37960" y="201168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69480" y="20482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37960" y="256032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69480" y="25968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Modules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37960" y="310896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269480" y="314553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Analysis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7960" y="3657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69480" y="36941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Used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0" y="47548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Senior Frontend Engineer · Fintech UI/UX Architect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6400800"/>
          </a:xfrm>
          <a:prstGeom prst="rect">
            <a:avLst/>
          </a:prstGeom>
          <a:solidFill>
            <a:srgbClr val="0EA5E9">
              <a:alpha val="5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4572000"/>
          </a:xfrm>
          <a:prstGeom prst="rect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</a:rPr>
              <a:t>OVERVIEW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3931920" cy="19202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07008"/>
            <a:ext cx="3931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350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Problem Statement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6420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borrowers make uninformed loan decisions due to lack of tools that clearly show total cost, repayment breakdowns, and comparison between options.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207008"/>
            <a:ext cx="3931920" cy="19202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07008"/>
            <a:ext cx="39319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350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Solution Delivered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66420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fintech dashboard with real-time EMI calculation, multi-loan comparison, amortization schedule, prepayment ROI, and AI-driven smart recommendations.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827532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291840"/>
            <a:ext cx="82753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01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Target Audience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7307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Loan Buyers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40280" y="37307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Auto Loan Seekers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86200" y="37307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Education Borrowers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32120" y="37307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Loan Applicants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78040" y="37307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 Relationship Managers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6400800"/>
          </a:xfrm>
          <a:prstGeom prst="rect">
            <a:avLst/>
          </a:prstGeom>
          <a:solidFill>
            <a:srgbClr val="0EA5E9">
              <a:alpha val="5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4572000"/>
          </a:xfrm>
          <a:prstGeom prst="rect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B5CF6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2606040" cy="233172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34440"/>
            <a:ext cx="260604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716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68249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1938528"/>
            <a:ext cx="224028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11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 shell · Tab routing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section panels · Responsive grid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234440"/>
            <a:ext cx="2606040" cy="233172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234440"/>
            <a:ext cx="26060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3716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68249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js/app.js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29000" y="1938528"/>
            <a:ext cx="224028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011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AppState manager · Event bus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router · Chart lifecycle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1234440"/>
            <a:ext cx="2606040" cy="233172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234440"/>
            <a:ext cx="26060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3716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68249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js/calculations.js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63640" y="1938528"/>
            <a:ext cx="224028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011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 · Zero DOM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· Amortization · Prepayment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99232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5216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1480" y="3749040"/>
            <a:ext cx="82753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749040"/>
            <a:ext cx="827532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js/charts.js  — Chart.js Abstraction Layer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41696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Doughnut   • Area   • Bar   • Radar   • Line (Dual-Axis)   • Gauge   • Stacked   • Timeline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6400800"/>
          </a:xfrm>
          <a:prstGeom prst="rect">
            <a:avLst/>
          </a:prstGeom>
          <a:solidFill>
            <a:srgbClr val="0EA5E9">
              <a:alpha val="5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4572000"/>
          </a:xfrm>
          <a:prstGeom prst="rect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EA5E9"/>
                </a:solidFill>
              </a:rPr>
              <a:t>FEATURES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Production Features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16152"/>
            <a:ext cx="292608" cy="292608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16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12344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EMI Calculator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" y="1389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+ direct input with instant recalc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965960"/>
            <a:ext cx="292608" cy="29260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⚖️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" y="198424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Multi-Loan Comparison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" y="2139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loans ranked by total payable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715768"/>
            <a:ext cx="292608" cy="29260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" y="273405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Amortization Schedule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28" y="288950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360-month detailed table with CSV export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465576"/>
            <a:ext cx="292608" cy="292608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" y="348386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Prepayment Optimizer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5528" y="36393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analysis, tenure/EMI reduction mode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4215384"/>
            <a:ext cx="292608" cy="292608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" y="423367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Sensitivity Chart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528" y="43891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Dual-axis: EMI vs interest across rates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1216152"/>
            <a:ext cx="292608" cy="29260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216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12344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Recommendations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38928" y="1389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AI insights &amp; risk assessment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1965960"/>
            <a:ext cx="292608" cy="292608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❤️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38928" y="198424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Loan Health Score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38928" y="2139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visual gauge with risk classification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2715768"/>
            <a:ext cx="292608" cy="29260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38928" y="273405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Tenure Impact Analysis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38928" y="288950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tenure options compared at current rate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3465576"/>
            <a:ext cx="292608" cy="292608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🌙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38928" y="348386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 / Light Mode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38928" y="36393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token swap, LocalStorage persistent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4215384"/>
            <a:ext cx="292608" cy="292608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38928" y="423367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Reports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38928" y="43891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schedule + TXT summary via Blob API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6400800"/>
          </a:xfrm>
          <a:prstGeom prst="rect">
            <a:avLst/>
          </a:prstGeom>
          <a:solidFill>
            <a:srgbClr val="0EA5E9">
              <a:alpha val="5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4572000"/>
          </a:xfrm>
          <a:prstGeom prst="rect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59E0B"/>
                </a:solidFill>
              </a:rPr>
              <a:t>CORE FEATURE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 Calculator Engine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5303520" cy="15087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07008"/>
            <a:ext cx="53035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25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 Formula (Industry Standard)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642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 =  P × r × (1+r)ⁿ  /  [(1+r)ⁿ − 1]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066544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Principal  ·  r = Monthly Rate (Annual% ÷ 1200)  ·  n = Tenure in Months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5040" y="1207008"/>
            <a:ext cx="2651760" cy="15087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07008"/>
            <a:ext cx="265176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25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6459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15200" y="16459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₹25,00,000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0" y="18745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 p.a.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17920" y="21031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0" y="21031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(240 mo)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2331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15200" y="23317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₹21,718/mo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2834640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834640"/>
            <a:ext cx="192024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94436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₹21,718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EMI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06040" y="2834640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06040" y="2834640"/>
            <a:ext cx="19202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294436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₹26.12L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743200" y="3383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Interest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2834640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834640"/>
            <a:ext cx="19202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94436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₹51.12L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937760" y="3383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Payable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95160" y="2834640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95160" y="2834640"/>
            <a:ext cx="192024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294436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104.5%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32320" y="3383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Burden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3858768"/>
            <a:ext cx="8275320" cy="89611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4360" y="39502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calculations.js — Pure function, zero DOM dependency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94360" y="41879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calculateEMI(principal, annualRate, tenureMonths) {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94360" y="43708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const r = annualRate / 100 / 12;  →  return (P × r × Math.pow(1+r,n)) / (Math.pow(1+r,n) - 1);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6400800"/>
          </a:xfrm>
          <a:prstGeom prst="rect">
            <a:avLst/>
          </a:prstGeom>
          <a:solidFill>
            <a:srgbClr val="0EA5E9">
              <a:alpha val="5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4572000"/>
          </a:xfrm>
          <a:prstGeom prst="rect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</a:rPr>
              <a:t>MATH ENGINE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Formula Library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827532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07008"/>
            <a:ext cx="82753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984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Amortization Schedule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29844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Interest_m = Balance × r  |  Principal_m = EMI − Interest_m  |  Balance_m = Balance − Principal_m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0" y="159105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generates 360-month detailed schedule in &lt;10ms. Year-end rows flagged for highlighting.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121408"/>
            <a:ext cx="827532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121408"/>
            <a:ext cx="82753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128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Tenure After Prepayment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21284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n_new = −log(1 − P_remaining × r / EMI) / log(1 + r)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0" y="250545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Logarithmic formula reverse-engineers remaining months after lump sum payment.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3035808"/>
            <a:ext cx="827532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035808"/>
            <a:ext cx="82753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272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Prepayment ROI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312724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= (Interest Saved / Prepayment Amount) × 100%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26080" y="341985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borrowers compare prepayment against alternative investments (FD rates, SIP returns).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3950208"/>
            <a:ext cx="827532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950208"/>
            <a:ext cx="827532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416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Loan Comparison Score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404164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Total Payable  ·  Savings_n = Payable_n − Payable_best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0" y="433425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ranked ascending by total payable. Radar chart normalizes 5 metrics to 0–100.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6400800"/>
          </a:xfrm>
          <a:prstGeom prst="rect">
            <a:avLst/>
          </a:prstGeom>
          <a:solidFill>
            <a:srgbClr val="0EA5E9">
              <a:alpha val="5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4572000"/>
          </a:xfrm>
          <a:prstGeom prst="rect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EA5E9"/>
                </a:solidFill>
              </a:rPr>
              <a:t>DESIGN SYSTEM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1234440" cy="548640"/>
          </a:xfrm>
          <a:prstGeom prst="rect">
            <a:avLst/>
          </a:prstGeom>
          <a:solidFill>
            <a:srgbClr val="04091C"/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1051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#04091C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215798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0" y="1207008"/>
            <a:ext cx="123444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81051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28800" y="199339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#0D1B3E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28800" y="215798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46120" y="1207008"/>
            <a:ext cx="123444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81051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46120" y="199339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#0EA5E9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46120" y="215798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63440" y="1207008"/>
            <a:ext cx="123444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81051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199339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#10B981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63440" y="215798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80760" y="1207008"/>
            <a:ext cx="12344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81051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80760" y="199339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80760" y="215798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498080" y="1207008"/>
            <a:ext cx="123444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81051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98080" y="199339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#8B5CF6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498080" y="215798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1480" y="2423160"/>
            <a:ext cx="4114800" cy="22860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2423160"/>
            <a:ext cx="41148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Typography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" y="29077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Bricolage Grotesque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31363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headings / stats  ·  w800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4360" y="34198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 Sans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364845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 / UI labels  ·  w400–600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4360" y="39319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 Mono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" y="41605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/ code / values  ·  w400–500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2423160"/>
            <a:ext cx="3840480" cy="22860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2423160"/>
            <a:ext cx="3840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25420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0" y="29077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Glassmorphism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12080" y="31089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 blur + rgba cards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29200" y="33649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CSS Custom Properties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12080" y="3566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dark/light theme toggle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29200" y="38221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Responsive Grid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12080" y="40233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 + auto-fit minmax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29200" y="42793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Micro-animations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12080" y="44805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+ ease-out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6400800"/>
          </a:xfrm>
          <a:prstGeom prst="rect">
            <a:avLst/>
          </a:prstGeom>
          <a:solidFill>
            <a:srgbClr val="0EA5E9">
              <a:alpha val="5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4572000"/>
          </a:xfrm>
          <a:prstGeom prst="rect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B5CF6"/>
                </a:solidFill>
              </a:rPr>
              <a:t>DATA VIZ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Interactive Chart Types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2011680" cy="162763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34440"/>
            <a:ext cx="20116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3441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🍩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1208" y="180136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Doughnut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075688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vs Interest split · cutout 72% · hover offset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06040" y="1234440"/>
            <a:ext cx="2011680" cy="162763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234440"/>
            <a:ext cx="20116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13441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715768" y="180136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(Multi)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075688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P/I/Balance trajectory · gradient fill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00600" y="1234440"/>
            <a:ext cx="2011680" cy="162763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234440"/>
            <a:ext cx="2011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3441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10328" y="180136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Stacked Bar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0328" y="2075688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P vs I breakdown · grouped + stacked modes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95160" y="1234440"/>
            <a:ext cx="2011680" cy="162763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95160" y="1234440"/>
            <a:ext cx="20116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4888" y="13441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🕸️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104888" y="180136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Radar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04888" y="2075688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performance across 5 normalized metrics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1480" y="3017520"/>
            <a:ext cx="2011680" cy="162763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017520"/>
            <a:ext cx="20116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3127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21208" y="358444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 (Dual-axis)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" y="3858768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sensitivity: EMI left · Total Interest right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06040" y="3017520"/>
            <a:ext cx="2011680" cy="162763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606040" y="3017520"/>
            <a:ext cx="20116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15768" y="3127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2715768" y="358444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Bar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15768" y="3858768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EMI split: 60-month stacked bars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00600" y="3017520"/>
            <a:ext cx="2011680" cy="162763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017520"/>
            <a:ext cx="2011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3127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4910328" y="358444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Savings Curve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10328" y="3858768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saved vs prepayment % · gradient area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95160" y="3017520"/>
            <a:ext cx="2011680" cy="162763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995160" y="3017520"/>
            <a:ext cx="201168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04888" y="3127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104888" y="358444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Gauge (Semi)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104888" y="3858768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0–100 · circumference 180°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6400800"/>
          </a:xfrm>
          <a:prstGeom prst="rect">
            <a:avLst/>
          </a:prstGeom>
          <a:solidFill>
            <a:srgbClr val="0EA5E9">
              <a:alpha val="5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4572000"/>
          </a:xfrm>
          <a:prstGeom prst="rect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</a:rPr>
              <a:t>AI FEATURE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Recommendation Engine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827532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07008"/>
            <a:ext cx="82753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16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316736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generateRecommendations() function analyzes 5 financial signals: interest burden ratio, market rate delta, tenure length, EMI-to-principal ratio, and prepayment opportunity — then scores risk and generates actionable advice.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176272"/>
            <a:ext cx="827532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176272"/>
            <a:ext cx="827532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313432"/>
            <a:ext cx="1005840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134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691640" y="22860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Interest burden &gt; 100% of principal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74920" y="22860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Suggest rate negotiation / tenure cut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834640"/>
            <a:ext cx="827532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834640"/>
            <a:ext cx="82753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971800"/>
            <a:ext cx="100584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71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691640" y="29443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Interest ratio 60–100% of principal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4920" y="29443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Recommend year 1–2 prepayment plan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493008"/>
            <a:ext cx="827532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493008"/>
            <a:ext cx="82753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630168"/>
            <a:ext cx="1005840" cy="201168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30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91640" y="360273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Rate &gt; market benchmark + 3%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74920" y="36027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Explore refinancing / balance transfer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151376"/>
            <a:ext cx="827532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4151376"/>
            <a:ext cx="82753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288536"/>
            <a:ext cx="100584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288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691640" y="426110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Any active loan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74920" y="42611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10% prepayment in month 12 analysis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4663440"/>
            <a:ext cx="827532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4718304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 =  100 − (Risk Score × 15) − (Interest Burden / 3)   ·   Gauge renders 0–100 on a 180° semi-donut chart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6400800"/>
          </a:xfrm>
          <a:prstGeom prst="rect">
            <a:avLst/>
          </a:prstGeom>
          <a:solidFill>
            <a:srgbClr val="0EA5E9">
              <a:alpha val="5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4572000"/>
          </a:xfrm>
          <a:prstGeom prst="rect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59E0B"/>
                </a:solidFill>
              </a:rPr>
              <a:t>QUALITY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&amp; Code Quality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07008"/>
            <a:ext cx="192024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167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&lt;10ms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360-month schedule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1207008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207008"/>
            <a:ext cx="19202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3167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1207008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207008"/>
            <a:ext cx="19202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3167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377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Dependencies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1207008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95160" y="1207008"/>
            <a:ext cx="192024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3167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700+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2286000"/>
            <a:ext cx="4114800" cy="15087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286000"/>
            <a:ext cx="41148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🧹  Patterns Used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276148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Registry Pattern — Chart lifecycle mgmt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29626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Namespace Pattern — window.FinCalc module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16382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Observer Pattern — IntersectionObserver animations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3649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Debounce — Input event optimization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35661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Pure Functions — Testable finance engine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286000"/>
            <a:ext cx="3840480" cy="15087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286000"/>
            <a:ext cx="3840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3957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Best Practices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27614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Semantic HTML5 elements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296265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 Custom Properties theming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316382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Accessible color contrast ratios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33649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Mobile-first responsive design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35661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layout shift on tab switch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3931920"/>
            <a:ext cx="82753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1480" y="3931920"/>
            <a:ext cx="827532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041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Scalability Roadmap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" y="43708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TypeScript + Zod validation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" y="4553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React/Next.js migration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" y="473659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Vitest unit tests for calculations.js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09160" y="43708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Node.js API for user accounts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09160" y="4553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PDF generation (jsPDF)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09160" y="473659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Banking API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6400800"/>
          </a:xfrm>
          <a:prstGeom prst="rect">
            <a:avLst/>
          </a:prstGeom>
          <a:solidFill>
            <a:srgbClr val="0EA5E9">
              <a:alpha val="5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4572000"/>
          </a:xfrm>
          <a:prstGeom prst="rect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EA5E9"/>
                </a:solidFill>
              </a:rPr>
              <a:t>CAREER VALUE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&amp; Recruiter Impact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2606040" cy="24231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07008"/>
            <a:ext cx="260604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16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137160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Recruiter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8470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architecture (tokens + components)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2494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with registry/lifecycle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state management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05409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glass UI system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207008"/>
            <a:ext cx="2606040" cy="24231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207008"/>
            <a:ext cx="26060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316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931920" y="137160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Fintech Hiring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18470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Banking-grade EMI formulas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22494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Amortization &amp; prepayment ROI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26517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Multi-loan comparison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305409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loans, interest, risk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1207008"/>
            <a:ext cx="2606040" cy="24231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207008"/>
            <a:ext cx="260604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316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66560" y="137160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Senior Engineer Review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18470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 = unit testable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22494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prevents memory leaks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26517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optimizes renders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305409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scales to React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3749040"/>
            <a:ext cx="82753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749040"/>
            <a:ext cx="82753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8587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ATS-Optimized Resume Bullet Points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41605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production-grade Fintech EMI Advisor (HTML/CSS/JS/Chart.js) with 10+ features, 8 chart types, and AI-driven smart recommendations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94360" y="436168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Engineered amortization schedule generator (360-month, &lt;10ms) with prepayment ROI analysis using banking-standard logarithmic formulas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4360" y="456285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Implemented glassmorphism design system with CSS Custom Properties, Chart.js registry pattern (zero memory leaks), and mobile-responsive layout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6400800"/>
          </a:xfrm>
          <a:prstGeom prst="rect">
            <a:avLst/>
          </a:prstGeom>
          <a:solidFill>
            <a:srgbClr val="0EA5E9">
              <a:alpha val="5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4572000"/>
          </a:xfrm>
          <a:prstGeom prst="rect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0409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731520"/>
            <a:ext cx="3657600" cy="36576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371600"/>
            <a:ext cx="2194560" cy="219456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</a:rPr>
              <a:t>DEPLOY &amp; SHIP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11480" y="5943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Deploy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in 30 seconds on Vercel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530352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09928"/>
            <a:ext cx="292608" cy="292608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4672" y="169164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main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4672" y="19659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to GitHub repository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368296"/>
            <a:ext cx="292608" cy="292608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04672" y="23500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vercel.com/new → Import Repo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" y="262432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from GitHub, framework = Other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026664"/>
            <a:ext cx="292608" cy="292608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03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" y="300837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smart-emi-advisor/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" y="3282696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root directory in Vercel settings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3685032"/>
            <a:ext cx="292608" cy="292608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04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04672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Deploy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4672" y="394106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in ~30 seconds — zero config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4343400"/>
            <a:ext cx="827532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4343400"/>
            <a:ext cx="82753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462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HTML5  ·  CSS3 (Glassmorphism)  ·  Vanilla JS ES2020  ·  Chart.js 4.4  ·  Vercel Hosting  ·  0 Frameworks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EMI &amp; Loan Comparison Advisor  ·  Built by a Senior Frontend Engineer  ·  Portfolio-Grade Fintech Project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EMI &amp; Loan Comparison Advisor — Portfolio Report</dc:title>
  <dc:subject>Fintech Portfolio Project</dc:subject>
  <dc:creator>Senior Frontend Engineer</dc:creator>
  <cp:lastModifiedBy>Senior Frontend Engineer</cp:lastModifiedBy>
  <cp:revision>1</cp:revision>
  <dcterms:created xsi:type="dcterms:W3CDTF">2026-05-09T16:24:54Z</dcterms:created>
  <dcterms:modified xsi:type="dcterms:W3CDTF">2026-05-09T16:24:54Z</dcterms:modified>
</cp:coreProperties>
</file>